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9144000" cy="16256000"/>
  <p:embeddedFontLst>
    <p:embeddedFont>
      <p:font typeface="Oranienbaum" panose="02000506080000020003" pitchFamily="2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97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556000"/>
            <a:ext cx="2540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286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AF6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Migrating Lekker Italia to AWS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83000" y="3937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8A9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Streamlining Operations with Cloud Technology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4A3F3A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0" y="571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7D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Praesignis AWS re/Start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23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7D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About Lekker Italia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02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 overview and current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393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429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pain points and inefficiencies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540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Solutions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71000" y="302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cloud services and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3810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0" y="393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429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cost comparison and savings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080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&amp; Conclusion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556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AWS is the right choice for Lekker Italia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RESTAURANT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About Lekker Italia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pic>
        <p:nvPicPr>
          <p:cNvPr id="5" name="Image 0" descr="https://kimi-img.moonshot.cn/pub/slides/okc/gq723nnpztluq/mnt/agents/output/app/public/images/img-4.jpg"/>
          <p:cNvPicPr>
            <a:picLocks noChangeAspect="1"/>
          </p:cNvPicPr>
          <p:nvPr/>
        </p:nvPicPr>
        <p:blipFill>
          <a:blip r:embed="rId3"/>
          <a:srcRect t="25442" b="25442"/>
          <a:stretch/>
        </p:blipFill>
        <p:spPr>
          <a:xfrm>
            <a:off x="8890000" y="1016000"/>
            <a:ext cx="6604000" cy="4445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62000" y="2222500"/>
            <a:ext cx="736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Lekker Italia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beloved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Italian-inspired restaurant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Cape Town, founded in 2015.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serves handmade pasta, wood-fired pizzas, and artisanal desserts with locally-sourced ingredients.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a loyal customer base, </a:t>
            </a:r>
            <a:r>
              <a:rPr lang="en-US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Lekker Italia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receives a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volume of bookings and orders daily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969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2015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6667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Founded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56000" y="5969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150+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556000" y="6667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Customers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0000" y="5969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40+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6350000" y="6667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 Items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Current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22500"/>
            <a:ext cx="3429000" cy="2921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6" name="Shape 4"/>
          <p:cNvSpPr/>
          <p:nvPr/>
        </p:nvSpPr>
        <p:spPr>
          <a:xfrm>
            <a:off x="10445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0"/>
                </a:moveTo>
                <a:cubicBezTo>
                  <a:pt x="130106" y="0"/>
                  <a:pt x="142875" y="12769"/>
                  <a:pt x="142875" y="28575"/>
                </a:cubicBezTo>
                <a:lnTo>
                  <a:pt x="142875" y="57150"/>
                </a:lnTo>
                <a:lnTo>
                  <a:pt x="257175" y="57150"/>
                </a:ln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ubicBezTo>
                  <a:pt x="301556" y="0"/>
                  <a:pt x="314325" y="12769"/>
                  <a:pt x="314325" y="28575"/>
                </a:cubicBezTo>
                <a:lnTo>
                  <a:pt x="314325" y="57150"/>
                </a:lnTo>
                <a:lnTo>
                  <a:pt x="342900" y="57150"/>
                </a:lnTo>
                <a:cubicBezTo>
                  <a:pt x="374422" y="57150"/>
                  <a:pt x="400050" y="82778"/>
                  <a:pt x="400050" y="1143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5628" y="57150"/>
                  <a:pt x="57150" y="57150"/>
                </a:cubicBezTo>
                <a:lnTo>
                  <a:pt x="85725" y="57150"/>
                </a:lnTo>
                <a:lnTo>
                  <a:pt x="85725" y="28575"/>
                </a:lnTo>
                <a:cubicBezTo>
                  <a:pt x="85725" y="12769"/>
                  <a:pt x="98494" y="0"/>
                  <a:pt x="114300" y="0"/>
                </a:cubicBezTo>
                <a:close/>
                <a:moveTo>
                  <a:pt x="260658" y="196542"/>
                </a:moveTo>
                <a:cubicBezTo>
                  <a:pt x="252264" y="188149"/>
                  <a:pt x="238691" y="188149"/>
                  <a:pt x="230386" y="196542"/>
                </a:cubicBezTo>
                <a:lnTo>
                  <a:pt x="200114" y="226814"/>
                </a:lnTo>
                <a:lnTo>
                  <a:pt x="169843" y="196542"/>
                </a:lnTo>
                <a:cubicBezTo>
                  <a:pt x="161449" y="188149"/>
                  <a:pt x="147876" y="188149"/>
                  <a:pt x="139571" y="196542"/>
                </a:cubicBezTo>
                <a:cubicBezTo>
                  <a:pt x="131266" y="204936"/>
                  <a:pt x="131177" y="218509"/>
                  <a:pt x="139571" y="226814"/>
                </a:cubicBezTo>
                <a:lnTo>
                  <a:pt x="169843" y="257086"/>
                </a:lnTo>
                <a:lnTo>
                  <a:pt x="139571" y="287357"/>
                </a:lnTo>
                <a:cubicBezTo>
                  <a:pt x="131177" y="295751"/>
                  <a:pt x="131177" y="309324"/>
                  <a:pt x="139571" y="317629"/>
                </a:cubicBezTo>
                <a:cubicBezTo>
                  <a:pt x="147965" y="325934"/>
                  <a:pt x="161538" y="326023"/>
                  <a:pt x="169843" y="317629"/>
                </a:cubicBezTo>
                <a:lnTo>
                  <a:pt x="200114" y="287357"/>
                </a:lnTo>
                <a:lnTo>
                  <a:pt x="230386" y="317629"/>
                </a:lnTo>
                <a:cubicBezTo>
                  <a:pt x="238780" y="326023"/>
                  <a:pt x="252353" y="326023"/>
                  <a:pt x="260658" y="317629"/>
                </a:cubicBezTo>
                <a:cubicBezTo>
                  <a:pt x="268962" y="309235"/>
                  <a:pt x="269051" y="295662"/>
                  <a:pt x="260658" y="287357"/>
                </a:cubicBezTo>
                <a:lnTo>
                  <a:pt x="230386" y="257086"/>
                </a:lnTo>
                <a:lnTo>
                  <a:pt x="260658" y="226814"/>
                </a:lnTo>
                <a:cubicBezTo>
                  <a:pt x="269051" y="218420"/>
                  <a:pt x="269051" y="204847"/>
                  <a:pt x="260658" y="196542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Chaos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530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booking leads to double bookings, mix-ups, and frustrated customers.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0" y="2222500"/>
            <a:ext cx="3429000" cy="2921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Shape 8"/>
          <p:cNvSpPr/>
          <p:nvPr/>
        </p:nvSpPr>
        <p:spPr>
          <a:xfrm>
            <a:off x="4791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Customer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3530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centralized system to track preferences, history, or special requests.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222500"/>
            <a:ext cx="3429000" cy="2921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4" name="Shape 12"/>
          <p:cNvSpPr/>
          <p:nvPr/>
        </p:nvSpPr>
        <p:spPr>
          <a:xfrm>
            <a:off x="8566150" y="2476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 Records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3530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Paper-based tracking causes delays and makes order retrieval difficult.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01500" y="2222500"/>
            <a:ext cx="3429000" cy="2921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84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55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0" y="3530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On-premise systems are costly and time-consuming to scale.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58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owner wants a simple website to allow online bookings and orders, reducing errors and improving efficiency."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3A30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2000" y="42164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5085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AF6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AWS Solutions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397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8A9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cloud technology transforms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Amazon S3 — Website Hosting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723900" y="2222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171450" y="571500"/>
                </a:moveTo>
                <a:cubicBezTo>
                  <a:pt x="76795" y="571500"/>
                  <a:pt x="0" y="494705"/>
                  <a:pt x="0" y="400050"/>
                </a:cubicBezTo>
                <a:cubicBezTo>
                  <a:pt x="0" y="324564"/>
                  <a:pt x="48816" y="260509"/>
                  <a:pt x="116562" y="237530"/>
                </a:cubicBezTo>
                <a:cubicBezTo>
                  <a:pt x="115014" y="228362"/>
                  <a:pt x="114300" y="219075"/>
                  <a:pt x="114300" y="209550"/>
                </a:cubicBezTo>
                <a:cubicBezTo>
                  <a:pt x="114300" y="114895"/>
                  <a:pt x="191095" y="38100"/>
                  <a:pt x="285750" y="38100"/>
                </a:cubicBezTo>
                <a:cubicBezTo>
                  <a:pt x="351711" y="38100"/>
                  <a:pt x="408980" y="75367"/>
                  <a:pt x="437674" y="129897"/>
                </a:cubicBezTo>
                <a:cubicBezTo>
                  <a:pt x="454581" y="120015"/>
                  <a:pt x="474345" y="114300"/>
                  <a:pt x="495300" y="114300"/>
                </a:cubicBezTo>
                <a:cubicBezTo>
                  <a:pt x="558403" y="114300"/>
                  <a:pt x="609600" y="165497"/>
                  <a:pt x="609600" y="228600"/>
                </a:cubicBezTo>
                <a:cubicBezTo>
                  <a:pt x="609600" y="247293"/>
                  <a:pt x="605076" y="265033"/>
                  <a:pt x="597098" y="280630"/>
                </a:cubicBezTo>
                <a:cubicBezTo>
                  <a:pt x="649486" y="304800"/>
                  <a:pt x="685800" y="357664"/>
                  <a:pt x="685800" y="419100"/>
                </a:cubicBezTo>
                <a:cubicBezTo>
                  <a:pt x="685800" y="503277"/>
                  <a:pt x="617577" y="571500"/>
                  <a:pt x="533400" y="571500"/>
                </a:cubicBezTo>
                <a:lnTo>
                  <a:pt x="171450" y="571500"/>
                </a:lnTo>
                <a:close/>
                <a:moveTo>
                  <a:pt x="363141" y="227409"/>
                </a:moveTo>
                <a:cubicBezTo>
                  <a:pt x="351949" y="216218"/>
                  <a:pt x="333851" y="216218"/>
                  <a:pt x="322778" y="227409"/>
                </a:cubicBezTo>
                <a:lnTo>
                  <a:pt x="237053" y="313134"/>
                </a:lnTo>
                <a:cubicBezTo>
                  <a:pt x="225862" y="324326"/>
                  <a:pt x="225862" y="342424"/>
                  <a:pt x="237053" y="353497"/>
                </a:cubicBezTo>
                <a:cubicBezTo>
                  <a:pt x="248245" y="364569"/>
                  <a:pt x="266343" y="364688"/>
                  <a:pt x="277416" y="353497"/>
                </a:cubicBezTo>
                <a:lnTo>
                  <a:pt x="314325" y="316587"/>
                </a:lnTo>
                <a:lnTo>
                  <a:pt x="314325" y="438150"/>
                </a:lnTo>
                <a:cubicBezTo>
                  <a:pt x="314325" y="453985"/>
                  <a:pt x="327065" y="466725"/>
                  <a:pt x="342900" y="466725"/>
                </a:cubicBezTo>
                <a:cubicBezTo>
                  <a:pt x="358735" y="466725"/>
                  <a:pt x="371475" y="453985"/>
                  <a:pt x="371475" y="438150"/>
                </a:cubicBezTo>
                <a:lnTo>
                  <a:pt x="371475" y="316587"/>
                </a:lnTo>
                <a:lnTo>
                  <a:pt x="408384" y="353497"/>
                </a:lnTo>
                <a:cubicBezTo>
                  <a:pt x="419576" y="364688"/>
                  <a:pt x="437674" y="364688"/>
                  <a:pt x="448747" y="353497"/>
                </a:cubicBezTo>
                <a:cubicBezTo>
                  <a:pt x="459819" y="342305"/>
                  <a:pt x="459938" y="324207"/>
                  <a:pt x="448747" y="313134"/>
                </a:cubicBezTo>
                <a:lnTo>
                  <a:pt x="363022" y="227409"/>
                </a:ln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Amazon S3 provides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durable, scalable object storage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S3 hosts all website files and menu images with 99.99% durability.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31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762500"/>
            <a:ext cx="787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Hosts HTML, CSS, JS and all image assets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scaling handles traffic spikes during peak hours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Low-cost storage at ~</a:t>
            </a:r>
            <a:r>
              <a:rPr lang="en-US" sz="1600" b="1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R0.37 per GB/month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content delivery via CloudFront CDN integration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 encryption for secure customer connections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22500"/>
            <a:ext cx="6350000" cy="4445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667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99.99%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652000" y="336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Durability SLA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46000" y="2667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C75A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R0.37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446000" y="336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GB / Month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0" y="4064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 for Lekker Italia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4572000"/>
            <a:ext cx="533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Upload website files to S3 bucket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static website hosting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 CloudFront CDN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Configure Route 53 domain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AWS Cognito — User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723900" y="2222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66700" y="295275"/>
                </a:moveTo>
                <a:cubicBezTo>
                  <a:pt x="345555" y="295275"/>
                  <a:pt x="409575" y="231255"/>
                  <a:pt x="409575" y="152400"/>
                </a:cubicBezTo>
                <a:cubicBezTo>
                  <a:pt x="409575" y="73545"/>
                  <a:pt x="345555" y="9525"/>
                  <a:pt x="266700" y="9525"/>
                </a:cubicBezTo>
                <a:cubicBezTo>
                  <a:pt x="187845" y="9525"/>
                  <a:pt x="123825" y="73545"/>
                  <a:pt x="123825" y="152400"/>
                </a:cubicBezTo>
                <a:cubicBezTo>
                  <a:pt x="123825" y="231255"/>
                  <a:pt x="187845" y="295275"/>
                  <a:pt x="266700" y="295275"/>
                </a:cubicBezTo>
                <a:close/>
                <a:moveTo>
                  <a:pt x="231338" y="361950"/>
                </a:moveTo>
                <a:cubicBezTo>
                  <a:pt x="114062" y="361950"/>
                  <a:pt x="19050" y="456962"/>
                  <a:pt x="19050" y="574238"/>
                </a:cubicBezTo>
                <a:cubicBezTo>
                  <a:pt x="19050" y="593765"/>
                  <a:pt x="34885" y="609600"/>
                  <a:pt x="54412" y="609600"/>
                </a:cubicBezTo>
                <a:lnTo>
                  <a:pt x="353854" y="609600"/>
                </a:lnTo>
                <a:cubicBezTo>
                  <a:pt x="310753" y="558879"/>
                  <a:pt x="285750" y="493514"/>
                  <a:pt x="285750" y="424339"/>
                </a:cubicBezTo>
                <a:lnTo>
                  <a:pt x="285750" y="387310"/>
                </a:lnTo>
                <a:cubicBezTo>
                  <a:pt x="285750" y="378619"/>
                  <a:pt x="286941" y="370046"/>
                  <a:pt x="289203" y="361950"/>
                </a:cubicBezTo>
                <a:lnTo>
                  <a:pt x="231338" y="361950"/>
                </a:lnTo>
                <a:close/>
                <a:moveTo>
                  <a:pt x="530185" y="581620"/>
                </a:moveTo>
                <a:lnTo>
                  <a:pt x="514350" y="589121"/>
                </a:lnTo>
                <a:lnTo>
                  <a:pt x="514350" y="365165"/>
                </a:lnTo>
                <a:lnTo>
                  <a:pt x="628650" y="403265"/>
                </a:lnTo>
                <a:lnTo>
                  <a:pt x="628650" y="426601"/>
                </a:lnTo>
                <a:cubicBezTo>
                  <a:pt x="628650" y="493038"/>
                  <a:pt x="590312" y="553403"/>
                  <a:pt x="530185" y="581739"/>
                </a:cubicBezTo>
                <a:close/>
                <a:moveTo>
                  <a:pt x="502325" y="308967"/>
                </a:moveTo>
                <a:lnTo>
                  <a:pt x="368975" y="353378"/>
                </a:lnTo>
                <a:cubicBezTo>
                  <a:pt x="353377" y="358616"/>
                  <a:pt x="342900" y="373142"/>
                  <a:pt x="342900" y="389573"/>
                </a:cubicBezTo>
                <a:lnTo>
                  <a:pt x="342900" y="426601"/>
                </a:lnTo>
                <a:cubicBezTo>
                  <a:pt x="342900" y="515183"/>
                  <a:pt x="394097" y="595789"/>
                  <a:pt x="474107" y="633413"/>
                </a:cubicBezTo>
                <a:lnTo>
                  <a:pt x="496133" y="643771"/>
                </a:lnTo>
                <a:cubicBezTo>
                  <a:pt x="501848" y="646390"/>
                  <a:pt x="508040" y="647819"/>
                  <a:pt x="514231" y="647819"/>
                </a:cubicBezTo>
                <a:cubicBezTo>
                  <a:pt x="520422" y="647819"/>
                  <a:pt x="526732" y="646390"/>
                  <a:pt x="532328" y="643771"/>
                </a:cubicBezTo>
                <a:lnTo>
                  <a:pt x="554355" y="633413"/>
                </a:lnTo>
                <a:cubicBezTo>
                  <a:pt x="634603" y="595670"/>
                  <a:pt x="685800" y="515064"/>
                  <a:pt x="685800" y="426482"/>
                </a:cubicBezTo>
                <a:lnTo>
                  <a:pt x="685800" y="389453"/>
                </a:lnTo>
                <a:cubicBezTo>
                  <a:pt x="685800" y="373023"/>
                  <a:pt x="675323" y="358497"/>
                  <a:pt x="659725" y="353258"/>
                </a:cubicBezTo>
                <a:lnTo>
                  <a:pt x="526375" y="308848"/>
                </a:lnTo>
                <a:cubicBezTo>
                  <a:pt x="518517" y="306229"/>
                  <a:pt x="510064" y="306229"/>
                  <a:pt x="502325" y="308848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Cognito provides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secure user sign-up, sign-in, and access control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managing a custom authentication server.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635500"/>
            <a:ext cx="787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registration and secure login system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identity providers (Google, Facebook)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authentication (MFA) support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recovery and email verification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tier: </a:t>
            </a:r>
            <a:r>
              <a:rPr lang="en-US" sz="1600" b="1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 monthly active users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22500"/>
            <a:ext cx="6350000" cy="4445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540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Lekker Italia 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0" y="3048000"/>
            <a:ext cx="533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Account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 up with email or social login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Bookings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and modify reservations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History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past orders and preferences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encryption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Amazon RDS — Database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222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Amazon RDS provides a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managed relational database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storing customer profiles, reservations, and order history.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635500"/>
            <a:ext cx="787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/ MySQL engine support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backups and software patches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 with Multi-AZ deployment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replicas for improved query performance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at rest and in transit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22500"/>
            <a:ext cx="6350000" cy="4445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540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Stored for </a:t>
            </a:r>
            <a:r>
              <a:rPr lang="en-US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2000" y="3111500"/>
          <a:ext cx="5334000" cy="31750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A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A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 Profiles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Contact info, preferences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Reservations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Date, time, guests, status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Items, total, timestamps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Menu Items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Dishes, prices, categories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AWS Lambda &amp; SNS —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222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03384" y="-11787"/>
                </a:moveTo>
                <a:cubicBezTo>
                  <a:pt x="417552" y="-1548"/>
                  <a:pt x="422791" y="17026"/>
                  <a:pt x="416362" y="33218"/>
                </a:cubicBezTo>
                <a:lnTo>
                  <a:pt x="323017" y="266700"/>
                </a:lnTo>
                <a:lnTo>
                  <a:pt x="495300" y="266700"/>
                </a:lnTo>
                <a:cubicBezTo>
                  <a:pt x="511373" y="266700"/>
                  <a:pt x="525661" y="276701"/>
                  <a:pt x="531138" y="291822"/>
                </a:cubicBezTo>
                <a:cubicBezTo>
                  <a:pt x="536615" y="306943"/>
                  <a:pt x="531971" y="323850"/>
                  <a:pt x="519708" y="334089"/>
                </a:cubicBezTo>
                <a:lnTo>
                  <a:pt x="176808" y="619839"/>
                </a:lnTo>
                <a:cubicBezTo>
                  <a:pt x="163354" y="631031"/>
                  <a:pt x="144185" y="631627"/>
                  <a:pt x="130016" y="621387"/>
                </a:cubicBezTo>
                <a:cubicBezTo>
                  <a:pt x="115848" y="611148"/>
                  <a:pt x="110609" y="592574"/>
                  <a:pt x="117038" y="576382"/>
                </a:cubicBezTo>
                <a:lnTo>
                  <a:pt x="210383" y="342900"/>
                </a:lnTo>
                <a:lnTo>
                  <a:pt x="38100" y="342900"/>
                </a:lnTo>
                <a:cubicBezTo>
                  <a:pt x="22027" y="342900"/>
                  <a:pt x="7739" y="332899"/>
                  <a:pt x="2262" y="317778"/>
                </a:cubicBezTo>
                <a:cubicBezTo>
                  <a:pt x="-3215" y="302657"/>
                  <a:pt x="1429" y="285750"/>
                  <a:pt x="13692" y="275511"/>
                </a:cubicBezTo>
                <a:lnTo>
                  <a:pt x="356592" y="-10239"/>
                </a:lnTo>
                <a:cubicBezTo>
                  <a:pt x="370046" y="-21431"/>
                  <a:pt x="389215" y="-22027"/>
                  <a:pt x="403384" y="-11787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Lambda provides </a:t>
            </a:r>
            <a:r>
              <a:rPr lang="en-US" sz="1800" b="1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serverless computing</a:t>
            </a:r>
            <a:r>
              <a:rPr lang="en-US" sz="1800" dirty="0">
                <a:solidFill>
                  <a:srgbClr val="2D24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event-driven tasks. Combined with Amazon SNS, it automates notifications and workflows.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Workflows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635500"/>
            <a:ext cx="787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confirmation emails after bookings/orders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Notify staff about new orders via SMS/email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 reservation reminders before dining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order analytics and reporting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server management required — </a:t>
            </a:r>
            <a:r>
              <a:rPr lang="en-US" sz="1600" b="1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per execution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22500"/>
            <a:ext cx="6350000" cy="4445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540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Flow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2000" y="3175000"/>
            <a:ext cx="2540000" cy="508000"/>
          </a:xfrm>
          <a:prstGeom prst="roundRect">
            <a:avLst>
              <a:gd name="adj" fmla="val 8000"/>
            </a:avLst>
          </a:prstGeom>
          <a:solidFill>
            <a:srgbClr val="C75A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0" y="317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Places Order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3746500"/>
            <a:ext cx="0" cy="317500"/>
          </a:xfrm>
          <a:prstGeom prst="straightConnector1">
            <a:avLst/>
          </a:prstGeom>
          <a:noFill/>
          <a:ln w="25400">
            <a:solidFill>
              <a:srgbClr val="C75A2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652000" y="4127500"/>
            <a:ext cx="2540000" cy="508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412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Processes Order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46990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652000" y="5080000"/>
            <a:ext cx="2540000" cy="508000"/>
          </a:xfrm>
          <a:prstGeom prst="roundRect">
            <a:avLst>
              <a:gd name="adj" fmla="val 8000"/>
            </a:avLst>
          </a:prstGeom>
          <a:solidFill>
            <a:srgbClr val="6B5D54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5080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SNS Notifies Staff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5651500"/>
            <a:ext cx="0" cy="317500"/>
          </a:xfrm>
          <a:prstGeom prst="straightConnector1">
            <a:avLst/>
          </a:prstGeom>
          <a:noFill/>
          <a:ln w="25400">
            <a:solidFill>
              <a:srgbClr val="6B5D54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652000" y="6032500"/>
            <a:ext cx="2540000" cy="508000"/>
          </a:xfrm>
          <a:prstGeom prst="roundRect">
            <a:avLst>
              <a:gd name="adj" fmla="val 8000"/>
            </a:avLst>
          </a:prstGeom>
          <a:solidFill>
            <a:srgbClr val="4A8C5C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000" y="6032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Sent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FINANCIAL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Cost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0833"/>
              </p:ext>
            </p:extLst>
          </p:nvPr>
        </p:nvGraphicFramePr>
        <p:xfrm>
          <a:off x="762000" y="2222500"/>
          <a:ext cx="8890000" cy="4318000"/>
        </p:xfrm>
        <a:graphic>
          <a:graphicData uri="http://schemas.openxmlformats.org/drawingml/2006/table">
            <a:tbl>
              <a:tblPr/>
              <a:tblGrid>
                <a:gridCol w="3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A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Service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A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Cost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A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S3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R32.60 – 81.50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Storage + requests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CloudFront CDN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R81.50 – 163.00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content delivery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Cognito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 to 50,000 MAUs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RDS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R244.50 – 407.50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db.t3.micro instance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Lambda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R0 – 81.50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1M free requests/mo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SNS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R16.30 – 48.90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Email/SMS notifications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Route 53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R8.15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4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160000" y="22225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C75A2E"/>
          </a:solidFill>
          <a:ln/>
        </p:spPr>
      </p:sp>
      <p:sp>
        <p:nvSpPr>
          <p:cNvPr id="7" name="Text 4"/>
          <p:cNvSpPr/>
          <p:nvPr/>
        </p:nvSpPr>
        <p:spPr>
          <a:xfrm>
            <a:off x="10541000" y="24765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AF6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MONTHLY COST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41000" y="2857500"/>
            <a:ext cx="457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AF6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R407–790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0" y="4572000"/>
            <a:ext cx="5334000" cy="19685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Text 7"/>
          <p:cNvSpPr/>
          <p:nvPr/>
        </p:nvSpPr>
        <p:spPr>
          <a:xfrm>
            <a:off x="10541000" y="47625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ON-PREMISES ALTERNATIVE</a:t>
            </a:r>
            <a:endParaRPr lang="en-US" sz="1600" dirty="0"/>
          </a:p>
        </p:txBody>
      </p:sp>
      <p:sp>
        <p:nvSpPr>
          <p:cNvPr id="5" name="Text 8"/>
          <p:cNvSpPr/>
          <p:nvPr/>
        </p:nvSpPr>
        <p:spPr>
          <a:xfrm>
            <a:off x="10541000" y="5143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C0392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R3,260–8,150+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41000" y="57785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Server, electricity, maintenance, IT support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0" y="6921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savings: up to 90%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Benefits of AWS Migration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476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-25400"/>
                </a:moveTo>
                <a:cubicBezTo>
                  <a:pt x="270656" y="-25400"/>
                  <a:pt x="304800" y="8744"/>
                  <a:pt x="304800" y="50800"/>
                </a:cubicBezTo>
                <a:cubicBezTo>
                  <a:pt x="304800" y="92856"/>
                  <a:pt x="270656" y="127000"/>
                  <a:pt x="228600" y="127000"/>
                </a:cubicBezTo>
                <a:cubicBezTo>
                  <a:pt x="186544" y="127000"/>
                  <a:pt x="152400" y="92856"/>
                  <a:pt x="152400" y="50800"/>
                </a:cubicBezTo>
                <a:cubicBezTo>
                  <a:pt x="152400" y="8744"/>
                  <a:pt x="186544" y="-25400"/>
                  <a:pt x="228600" y="-25400"/>
                </a:cubicBezTo>
                <a:close/>
                <a:moveTo>
                  <a:pt x="38100" y="241300"/>
                </a:moveTo>
                <a:cubicBezTo>
                  <a:pt x="38100" y="185658"/>
                  <a:pt x="75406" y="137001"/>
                  <a:pt x="131048" y="110411"/>
                </a:cubicBezTo>
                <a:cubicBezTo>
                  <a:pt x="151130" y="143192"/>
                  <a:pt x="187325" y="165100"/>
                  <a:pt x="228600" y="165100"/>
                </a:cubicBezTo>
                <a:cubicBezTo>
                  <a:pt x="272812" y="165100"/>
                  <a:pt x="311229" y="139938"/>
                  <a:pt x="330200" y="103188"/>
                </a:cubicBezTo>
                <a:cubicBezTo>
                  <a:pt x="342741" y="94218"/>
                  <a:pt x="358061" y="88900"/>
                  <a:pt x="374650" y="88900"/>
                </a:cubicBezTo>
                <a:lnTo>
                  <a:pt x="390128" y="88900"/>
                </a:lnTo>
                <a:cubicBezTo>
                  <a:pt x="398383" y="88900"/>
                  <a:pt x="404416" y="96679"/>
                  <a:pt x="402431" y="104696"/>
                </a:cubicBezTo>
                <a:lnTo>
                  <a:pt x="388858" y="158909"/>
                </a:lnTo>
                <a:cubicBezTo>
                  <a:pt x="396716" y="168751"/>
                  <a:pt x="403304" y="179308"/>
                  <a:pt x="408226" y="190500"/>
                </a:cubicBezTo>
                <a:lnTo>
                  <a:pt x="425450" y="190500"/>
                </a:lnTo>
                <a:cubicBezTo>
                  <a:pt x="436007" y="190500"/>
                  <a:pt x="444500" y="198993"/>
                  <a:pt x="444500" y="209550"/>
                </a:cubicBezTo>
                <a:lnTo>
                  <a:pt x="444500" y="298450"/>
                </a:lnTo>
                <a:cubicBezTo>
                  <a:pt x="444500" y="309007"/>
                  <a:pt x="436007" y="317500"/>
                  <a:pt x="425450" y="317500"/>
                </a:cubicBezTo>
                <a:lnTo>
                  <a:pt x="393700" y="317500"/>
                </a:lnTo>
                <a:cubicBezTo>
                  <a:pt x="380603" y="334963"/>
                  <a:pt x="363141" y="348933"/>
                  <a:pt x="342900" y="357743"/>
                </a:cubicBezTo>
                <a:lnTo>
                  <a:pt x="342900" y="381000"/>
                </a:lnTo>
                <a:cubicBezTo>
                  <a:pt x="342900" y="395049"/>
                  <a:pt x="331549" y="406400"/>
                  <a:pt x="317500" y="406400"/>
                </a:cubicBezTo>
                <a:lnTo>
                  <a:pt x="291306" y="406400"/>
                </a:lnTo>
                <a:cubicBezTo>
                  <a:pt x="279956" y="406400"/>
                  <a:pt x="270034" y="398859"/>
                  <a:pt x="266859" y="387985"/>
                </a:cubicBezTo>
                <a:lnTo>
                  <a:pt x="261223" y="368300"/>
                </a:lnTo>
                <a:lnTo>
                  <a:pt x="195897" y="368300"/>
                </a:lnTo>
                <a:lnTo>
                  <a:pt x="190262" y="387985"/>
                </a:lnTo>
                <a:cubicBezTo>
                  <a:pt x="187166" y="398859"/>
                  <a:pt x="177244" y="406400"/>
                  <a:pt x="165894" y="406400"/>
                </a:cubicBezTo>
                <a:lnTo>
                  <a:pt x="139700" y="406400"/>
                </a:lnTo>
                <a:cubicBezTo>
                  <a:pt x="125651" y="406400"/>
                  <a:pt x="114300" y="395049"/>
                  <a:pt x="114300" y="381000"/>
                </a:cubicBezTo>
                <a:lnTo>
                  <a:pt x="114300" y="357743"/>
                </a:lnTo>
                <a:cubicBezTo>
                  <a:pt x="69453" y="338138"/>
                  <a:pt x="38100" y="293370"/>
                  <a:pt x="38100" y="241300"/>
                </a:cubicBezTo>
                <a:close/>
                <a:moveTo>
                  <a:pt x="336550" y="254000"/>
                </a:moveTo>
                <a:cubicBezTo>
                  <a:pt x="347064" y="254000"/>
                  <a:pt x="355600" y="245464"/>
                  <a:pt x="355600" y="234950"/>
                </a:cubicBezTo>
                <a:cubicBezTo>
                  <a:pt x="355600" y="224436"/>
                  <a:pt x="347064" y="215900"/>
                  <a:pt x="336550" y="215900"/>
                </a:cubicBezTo>
                <a:cubicBezTo>
                  <a:pt x="326036" y="215900"/>
                  <a:pt x="317500" y="224436"/>
                  <a:pt x="317500" y="234950"/>
                </a:cubicBezTo>
                <a:cubicBezTo>
                  <a:pt x="317500" y="245464"/>
                  <a:pt x="326036" y="254000"/>
                  <a:pt x="336550" y="254000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only for what you use. No upfront hardware costs or ongoing server maintenance.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traffic spikes during peak dining hours automatically without manual intervention.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99.99% uptime SLA with automatic backups and disaster recovery built 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533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880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2611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encryption, compliance certifications, and secure access controls.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5080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2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5880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62611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delivers content fast to customers worldwide with low latency.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080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5ED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3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C75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5880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4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62611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200+ services for future enhancements like AI recommendations.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75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4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Proposed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540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2D2420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57500" y="2921000"/>
            <a:ext cx="1016000" cy="0"/>
          </a:xfrm>
          <a:prstGeom prst="straightConnector1">
            <a:avLst/>
          </a:prstGeom>
          <a:noFill/>
          <a:ln w="25400">
            <a:solidFill>
              <a:srgbClr val="C75A2E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937000" y="2540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C75A2E"/>
          </a:solidFill>
          <a:ln/>
        </p:spPr>
      </p:sp>
      <p:sp>
        <p:nvSpPr>
          <p:cNvPr id="9" name="Text 7"/>
          <p:cNvSpPr/>
          <p:nvPr/>
        </p:nvSpPr>
        <p:spPr>
          <a:xfrm>
            <a:off x="3937000" y="2540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53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2500" y="2921000"/>
            <a:ext cx="1016000" cy="0"/>
          </a:xfrm>
          <a:prstGeom prst="straightConnector1">
            <a:avLst/>
          </a:prstGeom>
          <a:noFill/>
          <a:ln w="25400">
            <a:solidFill>
              <a:srgbClr val="C75A2E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112000" y="2540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0" y="2540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07500" y="2921000"/>
            <a:ext cx="1016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287000" y="2540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4A8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2540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Bucket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7000" y="4318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6B5D5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7000" y="4318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53000" y="3492500"/>
            <a:ext cx="0" cy="762000"/>
          </a:xfrm>
          <a:prstGeom prst="straightConnector1">
            <a:avLst/>
          </a:prstGeom>
          <a:noFill/>
          <a:ln w="25400">
            <a:solidFill>
              <a:srgbClr val="6B5D54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112000" y="4318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6B5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4318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3492500"/>
            <a:ext cx="0" cy="762000"/>
          </a:xfrm>
          <a:prstGeom prst="straightConnector1">
            <a:avLst/>
          </a:prstGeom>
          <a:noFill/>
          <a:ln w="25400">
            <a:solidFill>
              <a:srgbClr val="6B5D54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287000" y="4318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6B5D54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4318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RDS / DynamoDB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303000" y="3492500"/>
            <a:ext cx="0" cy="762000"/>
          </a:xfrm>
          <a:prstGeom prst="straightConnector1">
            <a:avLst/>
          </a:prstGeom>
          <a:noFill/>
          <a:ln w="25400">
            <a:solidFill>
              <a:srgbClr val="6B5D54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112000" y="59690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8A7D72"/>
          </a:solidFill>
          <a:ln/>
        </p:spPr>
      </p:sp>
      <p:sp>
        <p:nvSpPr>
          <p:cNvPr id="26" name="Text 24"/>
          <p:cNvSpPr/>
          <p:nvPr/>
        </p:nvSpPr>
        <p:spPr>
          <a:xfrm>
            <a:off x="7112000" y="5969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000" y="5270500"/>
            <a:ext cx="0" cy="635000"/>
          </a:xfrm>
          <a:prstGeom prst="straightConnector1">
            <a:avLst/>
          </a:prstGeom>
          <a:noFill/>
          <a:ln w="25400">
            <a:solidFill>
              <a:srgbClr val="8A7D72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762000" y="355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C75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37000" y="533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37000" y="698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8A7D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</a:t>
            </a:r>
            <a:r>
              <a:rPr lang="en-US" sz="1600" b="1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architecture</a:t>
            </a:r>
            <a:r>
              <a:rPr lang="en-US" sz="16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minimizes operational overhead while maximizing performance and scalability.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Lekker Italia + AWS Migration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6B5D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C75A2E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3302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FAF6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Ready to Migrate?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431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B8A9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provides the tools to transform Lekker Italia's digital presence. Start small, scale fast, and focus on what matters most.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5715000"/>
            <a:ext cx="3810000" cy="635000"/>
          </a:xfrm>
          <a:prstGeom prst="roundRect">
            <a:avLst>
              <a:gd name="adj" fmla="val 50000"/>
            </a:avLst>
          </a:prstGeom>
          <a:solidFill>
            <a:srgbClr val="C75A2E"/>
          </a:solidFill>
          <a:ln/>
        </p:spPr>
      </p:sp>
      <p:sp>
        <p:nvSpPr>
          <p:cNvPr id="6" name="Text 4"/>
          <p:cNvSpPr/>
          <p:nvPr/>
        </p:nvSpPr>
        <p:spPr>
          <a:xfrm>
            <a:off x="6223000" y="5715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A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 Your AWS Journey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6858000"/>
            <a:ext cx="2540000" cy="25400"/>
          </a:xfrm>
          <a:prstGeom prst="rect">
            <a:avLst/>
          </a:prstGeom>
          <a:solidFill>
            <a:srgbClr val="4A3F3A"/>
          </a:solidFill>
          <a:ln/>
        </p:spPr>
      </p:sp>
      <p:sp>
        <p:nvSpPr>
          <p:cNvPr id="8" name="Text 6"/>
          <p:cNvSpPr/>
          <p:nvPr/>
        </p:nvSpPr>
        <p:spPr>
          <a:xfrm>
            <a:off x="4953000" y="711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7D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consideration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0" y="774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7D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Praesignis AWS re/Start Special Project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917</Words>
  <Application>Microsoft Office PowerPoint</Application>
  <PresentationFormat>Custom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Oranienbaum</vt:lpstr>
      <vt:lpstr>QuattrocentoSans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Migrating Tasty Bistro to AWS</dc:title>
  <dc:subject>Migrating Tasty Bistro to AWS</dc:subject>
  <dc:creator>Kimi</dc:creator>
  <cp:lastModifiedBy>Deon Claasen</cp:lastModifiedBy>
  <cp:revision>5</cp:revision>
  <dcterms:created xsi:type="dcterms:W3CDTF">2026-05-22T07:31:18Z</dcterms:created>
  <dcterms:modified xsi:type="dcterms:W3CDTF">2026-05-25T21:00:33Z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{"Label":"Migrating Tasty Bistro to AWS","ContentProducer":"001191110108MACG2KBH8F10000","ProduceID":"19e4ac08-7972-8e72-8000-0000b01d3fb5","ReservedCode1":"","ContentPropagator":"001191110108MACG2KBH8F20000","PropagateID":"19e4ac08-7972-8e72-8000-0000b01d3fb5","ReservedCode2":""}</vt:lpwstr>
  </property>
</Properties>
</file>