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F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Amazon Cognito</c:v>
                  </c:pt>
                  <c:pt idx="1">
                    <c:v>AWS IAM</c:v>
                  </c:pt>
                  <c:pt idx="2">
                    <c:v>AWS WAF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1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5E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obs/cluster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-2011680"/>
            <a:ext cx="7772400" cy="7772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9144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3EFFE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LEX  ·  CHATBOT PROJECT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Security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Bot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knowledge-check chatbot built with Amazon Lex, turning passive AWS study into active recall.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5074920"/>
            <a:ext cx="5760720" cy="868680"/>
          </a:xfrm>
          <a:prstGeom prst="roundRect">
            <a:avLst>
              <a:gd name="adj" fmla="val 12632"/>
            </a:avLst>
          </a:prstGeom>
          <a:solidFill>
            <a:srgbClr val="F7F7F9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5276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96112" y="55138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TalentBridge  ·  AWS re/Start Special Projects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tour from concept to live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777240" cy="621792"/>
          </a:xfrm>
          <a:prstGeom prst="roundRect">
            <a:avLst>
              <a:gd name="adj" fmla="val 20588"/>
            </a:avLst>
          </a:prstGeom>
          <a:solidFill>
            <a:srgbClr val="EBF3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938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Amazon Lex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0" y="1874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and how it powers conversation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08792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70632"/>
            <a:ext cx="777240" cy="621792"/>
          </a:xfrm>
          <a:prstGeom prst="roundRect">
            <a:avLst>
              <a:gd name="adj" fmla="val 20588"/>
            </a:avLst>
          </a:prstGeom>
          <a:solidFill>
            <a:srgbClr val="F3EFF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27157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Requirements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26480" y="27157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client asked us to build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10908792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11880"/>
            <a:ext cx="777240" cy="621792"/>
          </a:xfrm>
          <a:prstGeom prst="roundRect">
            <a:avLst>
              <a:gd name="adj" fmla="val 20588"/>
            </a:avLst>
          </a:prstGeom>
          <a:solidFill>
            <a:srgbClr val="FFF4E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355701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26480" y="355701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quiz bot meets those requirements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10908792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53128"/>
            <a:ext cx="777240" cy="621792"/>
          </a:xfrm>
          <a:prstGeom prst="roundRect">
            <a:avLst>
              <a:gd name="adj" fmla="val 20588"/>
            </a:avLst>
          </a:prstGeom>
          <a:solidFill>
            <a:srgbClr val="FFED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5312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439826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26480" y="439826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Intents, slots, and branching logic under the hood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148072"/>
            <a:ext cx="10908792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94376"/>
            <a:ext cx="777240" cy="621792"/>
          </a:xfrm>
          <a:prstGeom prst="roundRect">
            <a:avLst>
              <a:gd name="adj" fmla="val 20588"/>
            </a:avLst>
          </a:prstGeom>
          <a:solidFill>
            <a:srgbClr val="E9FB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9437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91640" y="5239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26480" y="523951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quiz bot run in real 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Amazon Lex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AWS service that powers Alexa, now available to build your own conversational bots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Lex uses natural language understanding (NLU) and automatic speech recognition (ASR) to let users interact with an application using speech or text, the same technology behind Alexa.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project, we used Lex to build, test, and deploy an educational chatbot without writing a traditional backend.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8646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SAME ENGINE 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Alexa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74920" y="1691640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7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5330952" y="1947672"/>
            <a:ext cx="548640" cy="548640"/>
          </a:xfrm>
          <a:prstGeom prst="ellipse">
            <a:avLst/>
          </a:prstGeom>
          <a:solidFill>
            <a:srgbClr val="EEE7FE"/>
          </a:solidFill>
          <a:ln/>
        </p:spPr>
      </p:sp>
      <p:pic>
        <p:nvPicPr>
          <p:cNvPr id="11" name="Image 0" descr="/home/claude/icons/int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2275" y="2018995"/>
            <a:ext cx="405994" cy="40599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30952" y="26243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30952" y="2990088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the bot performs to fulfill a user's request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31352" y="1691640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7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787384" y="1947672"/>
            <a:ext cx="548640" cy="548640"/>
          </a:xfrm>
          <a:prstGeom prst="ellipse">
            <a:avLst/>
          </a:prstGeom>
          <a:solidFill>
            <a:srgbClr val="FFE5F1"/>
          </a:solidFill>
          <a:ln/>
        </p:spPr>
      </p:sp>
      <p:pic>
        <p:nvPicPr>
          <p:cNvPr id="16" name="Image 1" descr="/home/claude/icons/utteran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707" y="2018995"/>
            <a:ext cx="405994" cy="4059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787384" y="26243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Utterances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787384" y="2990088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phrases users might type or say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74920" y="4096512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7F7F9"/>
          </a:solidFill>
          <a:ln/>
        </p:spPr>
      </p:sp>
      <p:sp>
        <p:nvSpPr>
          <p:cNvPr id="20" name="Shape 16"/>
          <p:cNvSpPr/>
          <p:nvPr/>
        </p:nvSpPr>
        <p:spPr>
          <a:xfrm>
            <a:off x="5330952" y="4352544"/>
            <a:ext cx="548640" cy="548640"/>
          </a:xfrm>
          <a:prstGeom prst="ellipse">
            <a:avLst/>
          </a:prstGeom>
          <a:solidFill>
            <a:srgbClr val="E2ECFE"/>
          </a:solidFill>
          <a:ln/>
        </p:spPr>
      </p:sp>
      <p:pic>
        <p:nvPicPr>
          <p:cNvPr id="21" name="Image 2" descr="/home/claude/icons/sl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275" y="4423867"/>
            <a:ext cx="405994" cy="4059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30952" y="50292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330952" y="539496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of information the bot collects from the user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531352" y="4096512"/>
            <a:ext cx="3200400" cy="2148840"/>
          </a:xfrm>
          <a:prstGeom prst="roundRect">
            <a:avLst>
              <a:gd name="adj" fmla="val 4255"/>
            </a:avLst>
          </a:prstGeom>
          <a:solidFill>
            <a:srgbClr val="F7F7F9"/>
          </a:solidFill>
          <a:ln/>
        </p:spPr>
      </p:sp>
      <p:sp>
        <p:nvSpPr>
          <p:cNvPr id="25" name="Shape 20"/>
          <p:cNvSpPr/>
          <p:nvPr/>
        </p:nvSpPr>
        <p:spPr>
          <a:xfrm>
            <a:off x="8787384" y="4352544"/>
            <a:ext cx="548640" cy="548640"/>
          </a:xfrm>
          <a:prstGeom prst="ellipse">
            <a:avLst/>
          </a:prstGeom>
          <a:solidFill>
            <a:srgbClr val="FFEFD9"/>
          </a:solidFill>
          <a:ln/>
        </p:spPr>
      </p:sp>
      <p:pic>
        <p:nvPicPr>
          <p:cNvPr id="26" name="Image 3" descr="/home/claude/icons/fulfill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707" y="4423867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787384" y="502920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787384" y="539496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that runs once all required info is captured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Brief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educational startup approached us with a clear ask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69264"/>
          </a:xfrm>
          <a:prstGeom prst="roundRect">
            <a:avLst>
              <a:gd name="adj" fmla="val 9434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48256"/>
            <a:ext cx="438912" cy="438912"/>
          </a:xfrm>
          <a:prstGeom prst="ellipse">
            <a:avLst/>
          </a:prstGeom>
          <a:solidFill>
            <a:srgbClr val="DEF6E7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9" y="2105315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engaging, educational quiz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83480" y="1892808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experience that tests learners on real AWS knowledge, not just answers FAQs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10908792" cy="969264"/>
          </a:xfrm>
          <a:prstGeom prst="roundRect">
            <a:avLst>
              <a:gd name="adj" fmla="val 9434"/>
            </a:avLst>
          </a:prstGeom>
          <a:solidFill>
            <a:srgbClr val="F7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182112"/>
            <a:ext cx="438912" cy="438912"/>
          </a:xfrm>
          <a:prstGeom prst="ellipse">
            <a:avLst/>
          </a:prstGeom>
          <a:solidFill>
            <a:srgbClr val="DEF8F7"/>
          </a:solidFill>
          <a:ln/>
        </p:spPr>
      </p:sp>
      <p:pic>
        <p:nvPicPr>
          <p:cNvPr id="11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9" y="3239171"/>
            <a:ext cx="324795" cy="3247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02666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Immediate, clear feedback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3026664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needs a response confirming correct or incorrect, with the right answer explained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08792" cy="969264"/>
          </a:xfrm>
          <a:prstGeom prst="roundRect">
            <a:avLst>
              <a:gd name="adj" fmla="val 9434"/>
            </a:avLst>
          </a:prstGeom>
          <a:solidFill>
            <a:srgbClr val="F7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15968"/>
            <a:ext cx="438912" cy="438912"/>
          </a:xfrm>
          <a:prstGeom prst="ellipse">
            <a:avLst/>
          </a:prstGeom>
          <a:solidFill>
            <a:srgbClr val="E2ECFE"/>
          </a:solidFill>
          <a:ln/>
        </p:spPr>
      </p:sp>
      <p:pic>
        <p:nvPicPr>
          <p:cNvPr id="16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9" y="4373027"/>
            <a:ext cx="324795" cy="3247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1605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across services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83480" y="416052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shouldn't focus on a single AWS service: learners need breadth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184648"/>
            <a:ext cx="10908792" cy="969264"/>
          </a:xfrm>
          <a:prstGeom prst="roundRect">
            <a:avLst>
              <a:gd name="adj" fmla="val 9434"/>
            </a:avLst>
          </a:prstGeom>
          <a:solidFill>
            <a:srgbClr val="F7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449824"/>
            <a:ext cx="438912" cy="438912"/>
          </a:xfrm>
          <a:prstGeom prst="ellipse">
            <a:avLst/>
          </a:prstGeom>
          <a:solidFill>
            <a:srgbClr val="EEE7FE"/>
          </a:solidFill>
          <a:ln/>
        </p:spPr>
      </p:sp>
      <p:pic>
        <p:nvPicPr>
          <p:cNvPr id="21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39" y="5506883"/>
            <a:ext cx="324795" cy="3247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9437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thorough assessment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83480" y="5294376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multiple-choice questions per session, not a quick 2-question demo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Lex bot, one dedicated quiz intent, three AWS services covered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46120" cy="1965960"/>
          </a:xfrm>
          <a:prstGeom prst="roundRect">
            <a:avLst>
              <a:gd name="adj" fmla="val 5581"/>
            </a:avLst>
          </a:prstGeom>
          <a:solidFill>
            <a:srgbClr val="FFF7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MULTIPLE-CHOICE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3246120" cy="1965960"/>
          </a:xfrm>
          <a:prstGeom prst="roundRect">
            <a:avLst>
              <a:gd name="adj" fmla="val 5581"/>
            </a:avLst>
          </a:prstGeom>
          <a:solidFill>
            <a:srgbClr val="F6F2F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233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SERVICES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783080"/>
            <a:ext cx="7406640" cy="4114800"/>
          </a:xfrm>
          <a:prstGeom prst="roundRect">
            <a:avLst>
              <a:gd name="adj" fmla="val 2667"/>
            </a:avLst>
          </a:prstGeom>
          <a:solidFill>
            <a:srgbClr val="F7F7F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PER SERVICE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343400" y="2331720"/>
          <a:ext cx="7040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Approach: 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is a Lex "slot" with built-in conditional branching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46120" cy="1371600"/>
          </a:xfrm>
          <a:prstGeom prst="roundRect">
            <a:avLst>
              <a:gd name="adj" fmla="val 9333"/>
            </a:avLst>
          </a:prstGeom>
          <a:solidFill>
            <a:srgbClr val="EFF5F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 quiz"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88620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246120" cy="1371600"/>
          </a:xfrm>
          <a:prstGeom prst="roundRect">
            <a:avLst>
              <a:gd name="adj" fmla="val 9333"/>
            </a:avLst>
          </a:prstGeom>
          <a:solidFill>
            <a:srgbClr val="F6F2FE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ASKS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49808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863840" y="1874520"/>
            <a:ext cx="3246120" cy="1371600"/>
          </a:xfrm>
          <a:prstGeom prst="roundRect">
            <a:avLst>
              <a:gd name="adj" fmla="val 9333"/>
            </a:avLst>
          </a:prstGeom>
          <a:solidFill>
            <a:srgbClr val="FF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057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ANSWERS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2377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or 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120640" cy="1371600"/>
          </a:xfrm>
          <a:prstGeom prst="roundRect">
            <a:avLst>
              <a:gd name="adj" fmla="val 9333"/>
            </a:avLst>
          </a:prstGeom>
          <a:solidFill>
            <a:srgbClr val="EDFAF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Correct!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407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shown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749040"/>
            <a:ext cx="5120640" cy="1371600"/>
          </a:xfrm>
          <a:prstGeom prst="roundRect">
            <a:avLst>
              <a:gd name="adj" fmla="val 9333"/>
            </a:avLst>
          </a:prstGeom>
          <a:solidFill>
            <a:srgbClr val="FFEFEE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Incorrect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44074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 shown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Repeats for Q1 → Q15, then closes with a summary message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from Each 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 pulled directly from the built quiz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2971800" cy="292608"/>
          </a:xfrm>
          <a:prstGeom prst="roundRect">
            <a:avLst>
              <a:gd name="adj" fmla="val 50000"/>
            </a:avLst>
          </a:prstGeom>
          <a:solidFill>
            <a:srgbClr val="EBF3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COGNITO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86207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main purpose of Amazon Cognito?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886200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862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88620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636008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E9F9E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3600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63600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463600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5385816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38581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5385816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Hosting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79976" y="16916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7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608576" y="1920240"/>
            <a:ext cx="2971800" cy="292608"/>
          </a:xfrm>
          <a:prstGeom prst="roundRect">
            <a:avLst>
              <a:gd name="adj" fmla="val 50000"/>
            </a:avLst>
          </a:prstGeom>
          <a:solidFill>
            <a:srgbClr val="F3E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1920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08576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08576" y="286207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primary purpose of AWS IAM?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608576" y="3886200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38862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57216" y="388620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08576" y="4636008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E9F9E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463600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57216" y="463600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Mgmt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14616" y="463600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08576" y="5385816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538581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57216" y="5385816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19872" y="16916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F7F7F9"/>
          </a:solidFill>
          <a:ln/>
        </p:spPr>
      </p:sp>
      <p:sp>
        <p:nvSpPr>
          <p:cNvPr id="35" name="Shape 33"/>
          <p:cNvSpPr/>
          <p:nvPr/>
        </p:nvSpPr>
        <p:spPr>
          <a:xfrm>
            <a:off x="8348472" y="1920240"/>
            <a:ext cx="2971800" cy="292608"/>
          </a:xfrm>
          <a:prstGeom prst="roundRect">
            <a:avLst>
              <a:gd name="adj" fmla="val 50000"/>
            </a:avLst>
          </a:prstGeom>
          <a:solidFill>
            <a:srgbClr val="FFEDF6"/>
          </a:solidFill>
          <a:ln/>
        </p:spPr>
      </p:sp>
      <p:sp>
        <p:nvSpPr>
          <p:cNvPr id="36" name="Text 34"/>
          <p:cNvSpPr/>
          <p:nvPr/>
        </p:nvSpPr>
        <p:spPr>
          <a:xfrm>
            <a:off x="8348472" y="1920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WAF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48472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348472" y="286207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AWS WAF primarily protect against?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8348472" y="3886200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E9F9E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38862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97112" y="388620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exploits (SQLi/XSS)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954512" y="388620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348472" y="4636008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463600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897112" y="463600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attacks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48472" y="5385816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538581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897112" y="5385816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We Overcame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15 branching questions by hand surfaced a few real lessons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06440" y="16916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SOLVED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branching logic across 15 questions instead of a handful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22402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one consistent capture-conditional pattern per slot: correct branch, default (incorrect) branch, then advance to the next question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90879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Free-text answers are sensitive to spelling and capitalization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06440" y="32461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every question to a strict A / B / C format with an explicit prompt, reducing ambiguous input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78808"/>
            <a:ext cx="1090879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one topic from dominating the quiz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06440" y="42519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split questions across three services (Cognito, IAM, and WAF), five questions each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84648"/>
            <a:ext cx="10908792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257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useful feedback, not just right/wrong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52578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includes a one-line explanation of why the answer is correct, reinforcing the learning goal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obs/clust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-1097280"/>
            <a:ext cx="7772400" cy="7772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67528" y="1188720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367528" y="11887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292608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in Action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3657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"start quiz" in the Amazon Lex test window to begin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86688" y="4617720"/>
            <a:ext cx="292608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5875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86688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Questions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32808" y="4617720"/>
            <a:ext cx="292608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32808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AWS Services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878928" y="4617720"/>
            <a:ext cx="292608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5875">
            <a:solidFill>
              <a:srgbClr val="22D3C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78928" y="4617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Feedback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obs/cluster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286000"/>
            <a:ext cx="685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1488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E9FBF9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2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COMPLETE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4360" y="2606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70916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F7F7F9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956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    </a:t>
            </a:r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Lex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96112" y="5285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         </a:t>
            </a:r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TalentBridge  ·  AWS re/Start Special Projects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2026-07-13T20:01:23Z</dcterms:created>
  <dcterms:modified xsi:type="dcterms:W3CDTF">2026-07-13T20:01:23Z</dcterms:modified>
</cp:coreProperties>
</file>